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rebuchet MS" charset="1" panose="020B0603020202020204"/>
      <p:regular r:id="rId20"/>
    </p:embeddedFont>
    <p:embeddedFont>
      <p:font typeface="Trebuchet MS Bold" charset="1" panose="020B0703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2409" y="1279227"/>
            <a:ext cx="1844345" cy="1589961"/>
            <a:chOff x="0" y="0"/>
            <a:chExt cx="2459126" cy="21199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59101" cy="2119884"/>
            </a:xfrm>
            <a:custGeom>
              <a:avLst/>
              <a:gdLst/>
              <a:ahLst/>
              <a:cxnLst/>
              <a:rect r="r" b="b" t="t" l="l"/>
              <a:pathLst>
                <a:path h="2119884" w="2459101">
                  <a:moveTo>
                    <a:pt x="0" y="1059942"/>
                  </a:moveTo>
                  <a:lnTo>
                    <a:pt x="529971" y="0"/>
                  </a:lnTo>
                  <a:lnTo>
                    <a:pt x="1929130" y="0"/>
                  </a:lnTo>
                  <a:lnTo>
                    <a:pt x="2459101" y="1059942"/>
                  </a:lnTo>
                  <a:lnTo>
                    <a:pt x="1929130" y="2119884"/>
                  </a:lnTo>
                  <a:lnTo>
                    <a:pt x="529971" y="2119884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405162" y="372742"/>
            <a:ext cx="2499246" cy="2154517"/>
            <a:chOff x="0" y="0"/>
            <a:chExt cx="3332328" cy="28726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32353" cy="2872740"/>
            </a:xfrm>
            <a:custGeom>
              <a:avLst/>
              <a:gdLst/>
              <a:ahLst/>
              <a:cxnLst/>
              <a:rect r="r" b="b" t="t" l="l"/>
              <a:pathLst>
                <a:path h="2872740" w="3332353">
                  <a:moveTo>
                    <a:pt x="0" y="1436370"/>
                  </a:moveTo>
                  <a:lnTo>
                    <a:pt x="718185" y="0"/>
                  </a:lnTo>
                  <a:lnTo>
                    <a:pt x="2614168" y="0"/>
                  </a:lnTo>
                  <a:lnTo>
                    <a:pt x="3332353" y="1436370"/>
                  </a:lnTo>
                  <a:lnTo>
                    <a:pt x="2614168" y="2872740"/>
                  </a:lnTo>
                  <a:lnTo>
                    <a:pt x="718185" y="2872740"/>
                  </a:lnTo>
                  <a:close/>
                </a:path>
              </a:pathLst>
            </a:custGeom>
            <a:solidFill>
              <a:srgbClr val="42D0A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707494" y="7849772"/>
            <a:ext cx="1077392" cy="928783"/>
            <a:chOff x="0" y="0"/>
            <a:chExt cx="1436522" cy="123837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364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436497">
                  <a:moveTo>
                    <a:pt x="0" y="619252"/>
                  </a:moveTo>
                  <a:lnTo>
                    <a:pt x="309626" y="0"/>
                  </a:lnTo>
                  <a:lnTo>
                    <a:pt x="1126871" y="0"/>
                  </a:lnTo>
                  <a:lnTo>
                    <a:pt x="1436497" y="619252"/>
                  </a:lnTo>
                  <a:lnTo>
                    <a:pt x="1126871" y="1238377"/>
                  </a:lnTo>
                  <a:lnTo>
                    <a:pt x="309626" y="1238377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56754" y="1028700"/>
            <a:ext cx="977417" cy="842601"/>
            <a:chOff x="0" y="0"/>
            <a:chExt cx="1303223" cy="11234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03274" cy="1123442"/>
            </a:xfrm>
            <a:custGeom>
              <a:avLst/>
              <a:gdLst/>
              <a:ahLst/>
              <a:cxnLst/>
              <a:rect r="r" b="b" t="t" l="l"/>
              <a:pathLst>
                <a:path h="1123442" w="1303274">
                  <a:moveTo>
                    <a:pt x="0" y="561721"/>
                  </a:moveTo>
                  <a:lnTo>
                    <a:pt x="280924" y="0"/>
                  </a:lnTo>
                  <a:lnTo>
                    <a:pt x="1022350" y="0"/>
                  </a:lnTo>
                  <a:lnTo>
                    <a:pt x="1303274" y="561721"/>
                  </a:lnTo>
                  <a:lnTo>
                    <a:pt x="1022350" y="1123442"/>
                  </a:lnTo>
                  <a:lnTo>
                    <a:pt x="280924" y="1123442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28700" y="5375272"/>
            <a:ext cx="11298907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Student Name -Chandrika Katam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College Name- Shri vishnu engineering college for women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0590" y="4294146"/>
            <a:ext cx="1620667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- Seasonal Agriculture Performance Analysis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527553" y="6900901"/>
            <a:ext cx="681293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AICTE STU ID : STU69dc74483ad151776055368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925540" y="1418211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13936" y="861822"/>
            <a:ext cx="10310527" cy="1103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48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PROBLEM  STATEMENT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1993528" y="4396254"/>
            <a:ext cx="4141137" cy="4896612"/>
            <a:chOff x="0" y="0"/>
            <a:chExt cx="5521516" cy="65288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21579" cy="6528816"/>
            </a:xfrm>
            <a:custGeom>
              <a:avLst/>
              <a:gdLst/>
              <a:ahLst/>
              <a:cxnLst/>
              <a:rect r="r" b="b" t="t" l="l"/>
              <a:pathLst>
                <a:path h="6528816" w="5521579">
                  <a:moveTo>
                    <a:pt x="0" y="0"/>
                  </a:moveTo>
                  <a:lnTo>
                    <a:pt x="5521579" y="0"/>
                  </a:lnTo>
                  <a:lnTo>
                    <a:pt x="5521579" y="6528816"/>
                  </a:lnTo>
                  <a:lnTo>
                    <a:pt x="0" y="652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18486" r="-135857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90590" y="2593718"/>
            <a:ext cx="11380751" cy="521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1883" indent="-345941" lvl="1">
              <a:lnSpc>
                <a:spcPts val="5223"/>
              </a:lnSpc>
              <a:buFont typeface="Arial"/>
              <a:buChar char="•"/>
            </a:pPr>
            <a:r>
              <a:rPr lang="en-US" sz="320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Agricultural performance changes from season to season because of differences in environmental conditions, farming practices, resource availability and market conditions.</a:t>
            </a:r>
          </a:p>
          <a:p>
            <a:pPr algn="l" marL="691883" indent="-345941" lvl="1">
              <a:lnSpc>
                <a:spcPts val="5223"/>
              </a:lnSpc>
              <a:buFont typeface="Arial"/>
              <a:buChar char="•"/>
            </a:pPr>
            <a:r>
              <a:rPr lang="en-US" sz="320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main challenge is to analyze the agricultural dataset and understand how performance changes across seasons by identifying important patterns, trends, relationships and variations.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687049" y="3732114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07901" y="1019175"/>
            <a:ext cx="9231287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6"/>
              </a:lnSpc>
            </a:pPr>
            <a:r>
              <a:rPr lang="en-US" sz="648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Project Description</a:t>
            </a:r>
          </a:p>
          <a:p>
            <a:pPr algn="l">
              <a:lnSpc>
                <a:spcPts val="7776"/>
              </a:lnSpc>
            </a:pPr>
          </a:p>
          <a:p>
            <a:pPr algn="l">
              <a:lnSpc>
                <a:spcPts val="7776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28700" y="2756171"/>
            <a:ext cx="9651747" cy="597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8487" indent="-329244" lvl="1">
              <a:lnSpc>
                <a:spcPts val="4757"/>
              </a:lnSpc>
              <a:buFont typeface="Arial"/>
              <a:buChar char="•"/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Seasonal Agriculture Performance Analysis is a data analysis project that studies agricultural performance across Kharif, Rabi and Zaid seasons.</a:t>
            </a:r>
          </a:p>
          <a:p>
            <a:pPr algn="l" marL="658487" indent="-329244" lvl="1">
              <a:lnSpc>
                <a:spcPts val="4757"/>
              </a:lnSpc>
              <a:buFont typeface="Arial"/>
              <a:buChar char="•"/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project involves cleaning the agricultural dataset, exploring important variables and comparing yield, profit, resource usage and environmental conditions across seasons.</a:t>
            </a:r>
          </a:p>
          <a:p>
            <a:pPr algn="l" marL="658487" indent="-329244" lvl="1">
              <a:lnSpc>
                <a:spcPts val="4757"/>
              </a:lnSpc>
              <a:buFont typeface="Arial"/>
              <a:buChar char="•"/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Data visualization and statistical analysis are used to identify useful patterns and relationships that can help in better agricultural planning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511883" y="6179357"/>
            <a:ext cx="4331368" cy="4114800"/>
          </a:xfrm>
          <a:custGeom>
            <a:avLst/>
            <a:gdLst/>
            <a:ahLst/>
            <a:cxnLst/>
            <a:rect r="r" b="b" t="t" l="l"/>
            <a:pathLst>
              <a:path h="4114800" w="4331368">
                <a:moveTo>
                  <a:pt x="0" y="0"/>
                </a:moveTo>
                <a:lnTo>
                  <a:pt x="4331369" y="0"/>
                </a:lnTo>
                <a:lnTo>
                  <a:pt x="43313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265403" y="-1034491"/>
            <a:ext cx="4281488" cy="10299697"/>
            <a:chOff x="0" y="0"/>
            <a:chExt cx="5708650" cy="13732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4279" r="0" b="-44427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077875" y="2473166"/>
            <a:ext cx="479622" cy="479622"/>
            <a:chOff x="0" y="0"/>
            <a:chExt cx="639496" cy="6394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6273359" y="7845540"/>
            <a:ext cx="1794379" cy="2361025"/>
          </a:xfrm>
          <a:custGeom>
            <a:avLst/>
            <a:gdLst/>
            <a:ahLst/>
            <a:cxnLst/>
            <a:rect r="r" b="b" t="t" l="l"/>
            <a:pathLst>
              <a:path h="2361025" w="1794379">
                <a:moveTo>
                  <a:pt x="0" y="0"/>
                </a:moveTo>
                <a:lnTo>
                  <a:pt x="1794379" y="0"/>
                </a:lnTo>
                <a:lnTo>
                  <a:pt x="1794379" y="2361025"/>
                </a:lnTo>
                <a:lnTo>
                  <a:pt x="0" y="2361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9000"/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340490" y="7867574"/>
            <a:ext cx="2339957" cy="3572453"/>
          </a:xfrm>
          <a:custGeom>
            <a:avLst/>
            <a:gdLst/>
            <a:ahLst/>
            <a:cxnLst/>
            <a:rect r="r" b="b" t="t" l="l"/>
            <a:pathLst>
              <a:path h="3572453" w="2339957">
                <a:moveTo>
                  <a:pt x="0" y="0"/>
                </a:moveTo>
                <a:lnTo>
                  <a:pt x="2339957" y="0"/>
                </a:lnTo>
                <a:lnTo>
                  <a:pt x="2339957" y="3572453"/>
                </a:lnTo>
                <a:lnTo>
                  <a:pt x="0" y="3572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460359" y="1351121"/>
            <a:ext cx="14886222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WHO ARE THE END USERS?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23454" y="3370358"/>
            <a:ext cx="14888568" cy="34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4845" indent="-372423" lvl="1">
              <a:lnSpc>
                <a:spcPts val="5416"/>
              </a:lnSpc>
              <a:buFont typeface="Arial"/>
              <a:buChar char="•"/>
            </a:pPr>
            <a:r>
              <a:rPr lang="en-US" sz="34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34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Farmers – to understand seasonal crop performance.</a:t>
            </a:r>
          </a:p>
          <a:p>
            <a:pPr algn="l" marL="744845" indent="-372423" lvl="1">
              <a:lnSpc>
                <a:spcPts val="5416"/>
              </a:lnSpc>
              <a:buFont typeface="Arial"/>
              <a:buChar char="•"/>
            </a:pPr>
            <a:r>
              <a:rPr lang="en-US" sz="34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Agricultural planners – to support better seasonal planning.</a:t>
            </a:r>
          </a:p>
          <a:p>
            <a:pPr algn="l" marL="744845" indent="-372423" lvl="1">
              <a:lnSpc>
                <a:spcPts val="5416"/>
              </a:lnSpc>
              <a:buFont typeface="Arial"/>
              <a:buChar char="•"/>
            </a:pPr>
            <a:r>
              <a:rPr lang="en-US" sz="34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Government departments – to understand agricultural trends.</a:t>
            </a:r>
          </a:p>
          <a:p>
            <a:pPr algn="l" marL="744845" indent="-372423" lvl="1">
              <a:lnSpc>
                <a:spcPts val="5416"/>
              </a:lnSpc>
              <a:buFont typeface="Arial"/>
              <a:buChar char="•"/>
            </a:pPr>
            <a:r>
              <a:rPr lang="en-US" sz="34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Agricultural analysts – to study relationships between different factors.</a:t>
            </a:r>
          </a:p>
          <a:p>
            <a:pPr algn="l" marL="744845" indent="-372423" lvl="1">
              <a:lnSpc>
                <a:spcPts val="5416"/>
              </a:lnSpc>
              <a:buFont typeface="Arial"/>
              <a:buChar char="•"/>
            </a:pPr>
            <a:r>
              <a:rPr lang="en-US" sz="34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Researchers/Students – for agricultural data analysis and research.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044238" y="664893"/>
            <a:ext cx="542925" cy="542925"/>
            <a:chOff x="0" y="0"/>
            <a:chExt cx="723900" cy="7239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361950"/>
                  </a:moveTo>
                  <a:cubicBezTo>
                    <a:pt x="0" y="162052"/>
                    <a:pt x="162052" y="0"/>
                    <a:pt x="361950" y="0"/>
                  </a:cubicBezTo>
                  <a:cubicBezTo>
                    <a:pt x="561848" y="0"/>
                    <a:pt x="723900" y="162052"/>
                    <a:pt x="723900" y="361950"/>
                  </a:cubicBezTo>
                  <a:cubicBezTo>
                    <a:pt x="723900" y="561848"/>
                    <a:pt x="561848" y="723900"/>
                    <a:pt x="361950" y="723900"/>
                  </a:cubicBezTo>
                  <a:cubicBezTo>
                    <a:pt x="162052" y="723900"/>
                    <a:pt x="0" y="561848"/>
                    <a:pt x="0" y="36195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510873" y="8408994"/>
            <a:ext cx="981342" cy="981342"/>
            <a:chOff x="0" y="0"/>
            <a:chExt cx="1308456" cy="13084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08354" cy="1308354"/>
            </a:xfrm>
            <a:custGeom>
              <a:avLst/>
              <a:gdLst/>
              <a:ahLst/>
              <a:cxnLst/>
              <a:rect r="r" b="b" t="t" l="l"/>
              <a:pathLst>
                <a:path h="1308354" w="1308354">
                  <a:moveTo>
                    <a:pt x="0" y="654177"/>
                  </a:moveTo>
                  <a:cubicBezTo>
                    <a:pt x="0" y="292862"/>
                    <a:pt x="292862" y="0"/>
                    <a:pt x="654177" y="0"/>
                  </a:cubicBezTo>
                  <a:cubicBezTo>
                    <a:pt x="1015492" y="0"/>
                    <a:pt x="1308354" y="292862"/>
                    <a:pt x="1308354" y="654177"/>
                  </a:cubicBezTo>
                  <a:cubicBezTo>
                    <a:pt x="1308354" y="1015492"/>
                    <a:pt x="1015492" y="1308354"/>
                    <a:pt x="654177" y="1308354"/>
                  </a:cubicBezTo>
                  <a:cubicBezTo>
                    <a:pt x="292862" y="1308354"/>
                    <a:pt x="0" y="1015492"/>
                    <a:pt x="0" y="654177"/>
                  </a:cubicBez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025689" y="9198654"/>
            <a:ext cx="376723" cy="376723"/>
            <a:chOff x="0" y="0"/>
            <a:chExt cx="502298" cy="5022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02285" cy="502285"/>
            </a:xfrm>
            <a:custGeom>
              <a:avLst/>
              <a:gdLst/>
              <a:ahLst/>
              <a:cxnLst/>
              <a:rect r="r" b="b" t="t" l="l"/>
              <a:pathLst>
                <a:path h="502285" w="502285">
                  <a:moveTo>
                    <a:pt x="0" y="251206"/>
                  </a:moveTo>
                  <a:cubicBezTo>
                    <a:pt x="0" y="112395"/>
                    <a:pt x="112395" y="0"/>
                    <a:pt x="251206" y="0"/>
                  </a:cubicBezTo>
                  <a:cubicBezTo>
                    <a:pt x="390017" y="0"/>
                    <a:pt x="502285" y="112395"/>
                    <a:pt x="502285" y="251206"/>
                  </a:cubicBezTo>
                  <a:cubicBezTo>
                    <a:pt x="502285" y="390017"/>
                    <a:pt x="389890" y="502285"/>
                    <a:pt x="251206" y="502285"/>
                  </a:cubicBezTo>
                  <a:cubicBezTo>
                    <a:pt x="112522" y="502285"/>
                    <a:pt x="0" y="389890"/>
                    <a:pt x="0" y="251206"/>
                  </a:cubicBez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01040" y="9615688"/>
            <a:ext cx="5559381" cy="444141"/>
            <a:chOff x="0" y="0"/>
            <a:chExt cx="7412507" cy="5921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412482" cy="592201"/>
            </a:xfrm>
            <a:custGeom>
              <a:avLst/>
              <a:gdLst/>
              <a:ahLst/>
              <a:cxnLst/>
              <a:rect r="r" b="b" t="t" l="l"/>
              <a:pathLst>
                <a:path h="592201" w="7412482">
                  <a:moveTo>
                    <a:pt x="0" y="0"/>
                  </a:moveTo>
                  <a:lnTo>
                    <a:pt x="7412482" y="0"/>
                  </a:lnTo>
                  <a:lnTo>
                    <a:pt x="7412482" y="592201"/>
                  </a:lnTo>
                  <a:lnTo>
                    <a:pt x="0" y="592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2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6200" y="5730240"/>
            <a:ext cx="2590800" cy="4515040"/>
            <a:chOff x="0" y="0"/>
            <a:chExt cx="3454400" cy="6020054"/>
          </a:xfrm>
        </p:grpSpPr>
        <p:sp>
          <p:nvSpPr>
            <p:cNvPr name="Freeform 38" id="38"/>
            <p:cNvSpPr/>
            <p:nvPr/>
          </p:nvSpPr>
          <p:spPr>
            <a:xfrm flipH="true" flipV="false" rot="0">
              <a:off x="0" y="0"/>
              <a:ext cx="3454400" cy="6020054"/>
            </a:xfrm>
            <a:custGeom>
              <a:avLst/>
              <a:gdLst/>
              <a:ahLst/>
              <a:cxnLst/>
              <a:rect r="r" b="b" t="t" l="l"/>
              <a:pathLst>
                <a:path h="6020054" w="3454400">
                  <a:moveTo>
                    <a:pt x="3454400" y="0"/>
                  </a:moveTo>
                  <a:lnTo>
                    <a:pt x="0" y="0"/>
                  </a:lnTo>
                  <a:lnTo>
                    <a:pt x="0" y="6020054"/>
                  </a:lnTo>
                  <a:lnTo>
                    <a:pt x="3454400" y="6020054"/>
                  </a:lnTo>
                  <a:lnTo>
                    <a:pt x="3454400" y="0"/>
                  </a:lnTo>
                  <a:close/>
                </a:path>
              </a:pathLst>
            </a:custGeom>
            <a:blipFill>
              <a:blip r:embed="rId5"/>
              <a:stretch>
                <a:fillRect l="-5923" t="0" r="-5922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3047990" y="2972910"/>
            <a:ext cx="12795261" cy="563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4837" indent="-407419" lvl="1">
              <a:lnSpc>
                <a:spcPts val="5585"/>
              </a:lnSpc>
              <a:buFont typeface="Arial"/>
              <a:buChar char="•"/>
            </a:pPr>
            <a:r>
              <a:rPr lang="en-US" sz="37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Python – Data cleaning and analysis</a:t>
            </a:r>
          </a:p>
          <a:p>
            <a:pPr algn="l" marL="814837" indent="-407419" lvl="1">
              <a:lnSpc>
                <a:spcPts val="5585"/>
              </a:lnSpc>
              <a:buFont typeface="Arial"/>
              <a:buChar char="•"/>
            </a:pPr>
            <a:r>
              <a:rPr lang="en-US" sz="37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Pandas – Data manipulation</a:t>
            </a:r>
          </a:p>
          <a:p>
            <a:pPr algn="l" marL="814837" indent="-407419" lvl="1">
              <a:lnSpc>
                <a:spcPts val="5585"/>
              </a:lnSpc>
              <a:buFont typeface="Arial"/>
              <a:buChar char="•"/>
            </a:pPr>
            <a:r>
              <a:rPr lang="en-US" sz="37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NumPy – Numerical calculations</a:t>
            </a:r>
          </a:p>
          <a:p>
            <a:pPr algn="l" marL="814837" indent="-407419" lvl="1">
              <a:lnSpc>
                <a:spcPts val="5585"/>
              </a:lnSpc>
              <a:buFont typeface="Arial"/>
              <a:buChar char="•"/>
            </a:pPr>
            <a:r>
              <a:rPr lang="en-US" sz="37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Matplotlib – Data visualization</a:t>
            </a:r>
          </a:p>
          <a:p>
            <a:pPr algn="l" marL="814837" indent="-407419" lvl="1">
              <a:lnSpc>
                <a:spcPts val="5585"/>
              </a:lnSpc>
              <a:buFont typeface="Arial"/>
              <a:buChar char="•"/>
            </a:pPr>
            <a:r>
              <a:rPr lang="en-US" sz="37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Seaborn – Statistical visualizations</a:t>
            </a:r>
          </a:p>
          <a:p>
            <a:pPr algn="l" marL="814837" indent="-407419" lvl="1">
              <a:lnSpc>
                <a:spcPts val="5585"/>
              </a:lnSpc>
              <a:buFont typeface="Arial"/>
              <a:buChar char="•"/>
            </a:pPr>
            <a:r>
              <a:rPr lang="en-US" sz="37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SciPy – Statistical analysis</a:t>
            </a:r>
          </a:p>
          <a:p>
            <a:pPr algn="l" marL="814837" indent="-407419" lvl="1">
              <a:lnSpc>
                <a:spcPts val="5585"/>
              </a:lnSpc>
              <a:buFont typeface="Arial"/>
              <a:buChar char="•"/>
            </a:pPr>
            <a:r>
              <a:rPr lang="en-US" sz="37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Google Colab – Jupyter Notebook environment</a:t>
            </a:r>
          </a:p>
          <a:p>
            <a:pPr algn="l" marL="814837" indent="-407419" lvl="1">
              <a:lnSpc>
                <a:spcPts val="5585"/>
              </a:lnSpc>
              <a:buFont typeface="Arial"/>
              <a:buChar char="•"/>
            </a:pPr>
            <a:r>
              <a:rPr lang="en-US" sz="37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GitHub – Project/code storage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2729580" y="7835898"/>
            <a:ext cx="2639576" cy="2322827"/>
          </a:xfrm>
          <a:custGeom>
            <a:avLst/>
            <a:gdLst/>
            <a:ahLst/>
            <a:cxnLst/>
            <a:rect r="r" b="b" t="t" l="l"/>
            <a:pathLst>
              <a:path h="2322827" w="2639576">
                <a:moveTo>
                  <a:pt x="0" y="0"/>
                </a:moveTo>
                <a:lnTo>
                  <a:pt x="2639576" y="0"/>
                </a:lnTo>
                <a:lnTo>
                  <a:pt x="2639576" y="2322827"/>
                </a:lnTo>
                <a:lnTo>
                  <a:pt x="0" y="23228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082040" y="672522"/>
            <a:ext cx="7776553" cy="1199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Technology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336552" y="1756658"/>
            <a:ext cx="7371400" cy="4329215"/>
          </a:xfrm>
          <a:custGeom>
            <a:avLst/>
            <a:gdLst/>
            <a:ahLst/>
            <a:cxnLst/>
            <a:rect r="r" b="b" t="t" l="l"/>
            <a:pathLst>
              <a:path h="4329215" w="7371400">
                <a:moveTo>
                  <a:pt x="0" y="0"/>
                </a:moveTo>
                <a:lnTo>
                  <a:pt x="7371400" y="0"/>
                </a:lnTo>
                <a:lnTo>
                  <a:pt x="7371400" y="4329214"/>
                </a:lnTo>
                <a:lnTo>
                  <a:pt x="0" y="4329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5368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2621280" y="6324179"/>
            <a:ext cx="6447661" cy="3658442"/>
          </a:xfrm>
          <a:custGeom>
            <a:avLst/>
            <a:gdLst/>
            <a:ahLst/>
            <a:cxnLst/>
            <a:rect r="r" b="b" t="t" l="l"/>
            <a:pathLst>
              <a:path h="3658442" w="6447661">
                <a:moveTo>
                  <a:pt x="0" y="0"/>
                </a:moveTo>
                <a:lnTo>
                  <a:pt x="6447661" y="0"/>
                </a:lnTo>
                <a:lnTo>
                  <a:pt x="6447661" y="3658442"/>
                </a:lnTo>
                <a:lnTo>
                  <a:pt x="0" y="36584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78043" y="7313085"/>
            <a:ext cx="6070352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5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Kharif shows the highest average crop yield, followed by Rabi and Zaid. This shows that yield performance varies across seasons.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54677" y="2787790"/>
            <a:ext cx="7902820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4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Kharif also has the highest average profit, while Zaid shows comparatively poor profitability. This shows that seasonal performance differs economically as well.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845371" y="1949015"/>
            <a:ext cx="4809594" cy="4670474"/>
          </a:xfrm>
          <a:custGeom>
            <a:avLst/>
            <a:gdLst/>
            <a:ahLst/>
            <a:cxnLst/>
            <a:rect r="r" b="b" t="t" l="l"/>
            <a:pathLst>
              <a:path h="4670474" w="4809594">
                <a:moveTo>
                  <a:pt x="0" y="0"/>
                </a:moveTo>
                <a:lnTo>
                  <a:pt x="4809594" y="0"/>
                </a:lnTo>
                <a:lnTo>
                  <a:pt x="4809594" y="4670474"/>
                </a:lnTo>
                <a:lnTo>
                  <a:pt x="0" y="46704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4139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6743378" y="5384797"/>
            <a:ext cx="4043407" cy="4731248"/>
          </a:xfrm>
          <a:custGeom>
            <a:avLst/>
            <a:gdLst/>
            <a:ahLst/>
            <a:cxnLst/>
            <a:rect r="r" b="b" t="t" l="l"/>
            <a:pathLst>
              <a:path h="4731248" w="4043407">
                <a:moveTo>
                  <a:pt x="0" y="0"/>
                </a:moveTo>
                <a:lnTo>
                  <a:pt x="4043407" y="0"/>
                </a:lnTo>
                <a:lnTo>
                  <a:pt x="4043407" y="4731248"/>
                </a:lnTo>
                <a:lnTo>
                  <a:pt x="0" y="47312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36717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59054" y="2537578"/>
            <a:ext cx="579442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  <a:spcBef>
                <a:spcPct val="0"/>
              </a:spcBef>
            </a:pPr>
            <a:r>
              <a:rPr lang="en-US" sz="28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Rainfall varies clearly across the seasons, with Kharif receiving the highest average rainfall.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771690" y="5548143"/>
            <a:ext cx="5059929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9"/>
              </a:lnSpc>
              <a:spcBef>
                <a:spcPct val="0"/>
              </a:spcBef>
            </a:pPr>
            <a:r>
              <a:rPr lang="en-US" sz="304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Temperature also differs across seasons, with Zaid showing the highest average temperature and Rabi the lowest.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1503808" y="2028168"/>
            <a:ext cx="5694481" cy="8087878"/>
          </a:xfrm>
          <a:custGeom>
            <a:avLst/>
            <a:gdLst/>
            <a:ahLst/>
            <a:cxnLst/>
            <a:rect r="r" b="b" t="t" l="l"/>
            <a:pathLst>
              <a:path h="8087878" w="5694481">
                <a:moveTo>
                  <a:pt x="0" y="0"/>
                </a:moveTo>
                <a:lnTo>
                  <a:pt x="5694481" y="0"/>
                </a:lnTo>
                <a:lnTo>
                  <a:pt x="5694481" y="8087877"/>
                </a:lnTo>
                <a:lnTo>
                  <a:pt x="0" y="808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3661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28994" y="4115383"/>
            <a:ext cx="8891373" cy="2731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5"/>
              </a:lnSpc>
              <a:spcBef>
                <a:spcPct val="0"/>
              </a:spcBef>
            </a:pPr>
            <a:r>
              <a:rPr lang="en-US" sz="447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Water usage differs across seasons, with Zaid showing the highest average water consumption.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527100" y="2172772"/>
            <a:ext cx="6233551" cy="7824668"/>
          </a:xfrm>
          <a:custGeom>
            <a:avLst/>
            <a:gdLst/>
            <a:ahLst/>
            <a:cxnLst/>
            <a:rect r="r" b="b" t="t" l="l"/>
            <a:pathLst>
              <a:path h="7824668" w="6233551">
                <a:moveTo>
                  <a:pt x="0" y="0"/>
                </a:moveTo>
                <a:lnTo>
                  <a:pt x="6233551" y="0"/>
                </a:lnTo>
                <a:lnTo>
                  <a:pt x="6233551" y="7824668"/>
                </a:lnTo>
                <a:lnTo>
                  <a:pt x="0" y="7824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7760651" y="4323865"/>
            <a:ext cx="9054941" cy="1620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2"/>
              </a:lnSpc>
              <a:spcBef>
                <a:spcPct val="0"/>
              </a:spcBef>
            </a:pPr>
            <a:r>
              <a:rPr lang="en-US" sz="3502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Despite higher water usage, Zaid has lower water efficiency, while Kharif performs better in terms of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349074" y="1987925"/>
            <a:ext cx="6355129" cy="5168150"/>
          </a:xfrm>
          <a:custGeom>
            <a:avLst/>
            <a:gdLst/>
            <a:ahLst/>
            <a:cxnLst/>
            <a:rect r="r" b="b" t="t" l="l"/>
            <a:pathLst>
              <a:path h="5168150" w="6355129">
                <a:moveTo>
                  <a:pt x="0" y="0"/>
                </a:moveTo>
                <a:lnTo>
                  <a:pt x="6355129" y="0"/>
                </a:lnTo>
                <a:lnTo>
                  <a:pt x="6355129" y="5168150"/>
                </a:lnTo>
                <a:lnTo>
                  <a:pt x="0" y="516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105376" y="582549"/>
            <a:ext cx="4289584" cy="117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99059" y="3421097"/>
            <a:ext cx="5850309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The graph shows that average yield is different for different crops. Some crops have higher yields than others, showing that crop type also affects agricultural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105376" y="592074"/>
            <a:ext cx="6920817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Future scope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7464" y="2421782"/>
            <a:ext cx="15206266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35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 the future, the project can be extended by: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Adding real-time weather data.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Using larger and more recent agricultural datasets.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Building machine learning models to predict crop yield.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Developing crop recommendation systems.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Creating an interactive dashboard for farmers and agricultural planners.</a:t>
            </a:r>
          </a:p>
          <a:p>
            <a:pPr algn="l" marL="755651" indent="-377825" lvl="1">
              <a:lnSpc>
                <a:spcPts val="574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Providing region-specific agricultural recommendations.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785781" y="3580219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05376" y="592074"/>
            <a:ext cx="6920817" cy="1164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GitHub Link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0" y="2198410"/>
            <a:ext cx="1399960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https://github.com/chandrika-k137/seasonal-agriculture-performance-analysis.git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3361936" y="2151613"/>
            <a:ext cx="10639814" cy="7556267"/>
          </a:xfrm>
          <a:custGeom>
            <a:avLst/>
            <a:gdLst/>
            <a:ahLst/>
            <a:cxnLst/>
            <a:rect r="r" b="b" t="t" l="l"/>
            <a:pathLst>
              <a:path h="7556267" w="10639814">
                <a:moveTo>
                  <a:pt x="0" y="0"/>
                </a:moveTo>
                <a:lnTo>
                  <a:pt x="10639814" y="0"/>
                </a:lnTo>
                <a:lnTo>
                  <a:pt x="10639814" y="7556267"/>
                </a:lnTo>
                <a:lnTo>
                  <a:pt x="0" y="755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105376" y="592074"/>
            <a:ext cx="12344200" cy="124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VOIS Course completion certificate - </a:t>
            </a:r>
          </a:p>
          <a:p>
            <a:pPr algn="l">
              <a:lnSpc>
                <a:spcPts val="5184"/>
              </a:lnSpc>
            </a:pPr>
            <a:r>
              <a:rPr lang="en-US" sz="432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Course name- Data Visualization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90590" y="9568358"/>
            <a:ext cx="4114800" cy="547688"/>
            <a:chOff x="0" y="0"/>
            <a:chExt cx="54864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E83C3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9/3/2026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168290" y="9568358"/>
            <a:ext cx="6172200" cy="547688"/>
            <a:chOff x="0" y="0"/>
            <a:chExt cx="8229600" cy="730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69587" r="0" b="-1695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2296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E83C3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Annual Review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208003" y="9568358"/>
            <a:ext cx="4114800" cy="547688"/>
            <a:chOff x="0" y="0"/>
            <a:chExt cx="5486400" cy="730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548640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2E946B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‹#›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0007" y="5201336"/>
            <a:ext cx="687400" cy="592588"/>
            <a:chOff x="0" y="0"/>
            <a:chExt cx="916534" cy="7901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6559" cy="790067"/>
            </a:xfrm>
            <a:custGeom>
              <a:avLst/>
              <a:gdLst/>
              <a:ahLst/>
              <a:cxnLst/>
              <a:rect r="r" b="b" t="t" l="l"/>
              <a:pathLst>
                <a:path h="790067" w="916559">
                  <a:moveTo>
                    <a:pt x="0" y="395097"/>
                  </a:moveTo>
                  <a:lnTo>
                    <a:pt x="197485" y="0"/>
                  </a:lnTo>
                  <a:lnTo>
                    <a:pt x="718947" y="0"/>
                  </a:lnTo>
                  <a:lnTo>
                    <a:pt x="916559" y="395097"/>
                  </a:lnTo>
                  <a:lnTo>
                    <a:pt x="718947" y="790067"/>
                  </a:lnTo>
                  <a:lnTo>
                    <a:pt x="197485" y="790067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670007" y="3592087"/>
            <a:ext cx="537591" cy="463439"/>
            <a:chOff x="0" y="0"/>
            <a:chExt cx="716788" cy="61791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788" cy="617855"/>
            </a:xfrm>
            <a:custGeom>
              <a:avLst/>
              <a:gdLst/>
              <a:ahLst/>
              <a:cxnLst/>
              <a:rect r="r" b="b" t="t" l="l"/>
              <a:pathLst>
                <a:path h="617855" w="716788">
                  <a:moveTo>
                    <a:pt x="0" y="308991"/>
                  </a:moveTo>
                  <a:lnTo>
                    <a:pt x="154432" y="0"/>
                  </a:lnTo>
                  <a:lnTo>
                    <a:pt x="562356" y="0"/>
                  </a:lnTo>
                  <a:lnTo>
                    <a:pt x="716788" y="308991"/>
                  </a:lnTo>
                  <a:lnTo>
                    <a:pt x="562356" y="617855"/>
                  </a:lnTo>
                  <a:lnTo>
                    <a:pt x="154432" y="61785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323974" y="3303299"/>
            <a:ext cx="346034" cy="298304"/>
            <a:chOff x="0" y="0"/>
            <a:chExt cx="461378" cy="3977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61391" cy="397764"/>
            </a:xfrm>
            <a:custGeom>
              <a:avLst/>
              <a:gdLst/>
              <a:ahLst/>
              <a:cxnLst/>
              <a:rect r="r" b="b" t="t" l="l"/>
              <a:pathLst>
                <a:path h="397764" w="461391">
                  <a:moveTo>
                    <a:pt x="0" y="198882"/>
                  </a:moveTo>
                  <a:lnTo>
                    <a:pt x="99441" y="0"/>
                  </a:lnTo>
                  <a:lnTo>
                    <a:pt x="361950" y="0"/>
                  </a:lnTo>
                  <a:lnTo>
                    <a:pt x="461391" y="198882"/>
                  </a:lnTo>
                  <a:lnTo>
                    <a:pt x="361950" y="397764"/>
                  </a:lnTo>
                  <a:lnTo>
                    <a:pt x="99441" y="397764"/>
                  </a:ln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7995" y="971550"/>
            <a:ext cx="17010002" cy="1050169"/>
            <a:chOff x="0" y="0"/>
            <a:chExt cx="22680003" cy="14002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680000" cy="1400228"/>
            </a:xfrm>
            <a:custGeom>
              <a:avLst/>
              <a:gdLst/>
              <a:ahLst/>
              <a:cxnLst/>
              <a:rect r="r" b="b" t="t" l="l"/>
              <a:pathLst>
                <a:path h="1400228" w="22680000">
                  <a:moveTo>
                    <a:pt x="0" y="0"/>
                  </a:moveTo>
                  <a:lnTo>
                    <a:pt x="22680000" y="0"/>
                  </a:lnTo>
                  <a:lnTo>
                    <a:pt x="22680000" y="1400228"/>
                  </a:lnTo>
                  <a:lnTo>
                    <a:pt x="0" y="14002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5606" r="0" b="-26560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22680003" cy="14097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776"/>
                </a:lnSpc>
              </a:pPr>
              <a:r>
                <a:rPr lang="en-US" sz="6480" b="true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13936" y="9707880"/>
            <a:ext cx="3214688" cy="289560"/>
            <a:chOff x="0" y="0"/>
            <a:chExt cx="4286250" cy="386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286250" cy="386080"/>
            </a:xfrm>
            <a:custGeom>
              <a:avLst/>
              <a:gdLst/>
              <a:ahLst/>
              <a:cxnLst/>
              <a:rect r="r" b="b" t="t" l="l"/>
              <a:pathLst>
                <a:path h="38608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386080"/>
                  </a:lnTo>
                  <a:lnTo>
                    <a:pt x="0" y="38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18486" r="-135857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5683234" y="6999084"/>
            <a:ext cx="3026664" cy="158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978489" y="6999084"/>
            <a:ext cx="3026664" cy="158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07407" y="8253908"/>
            <a:ext cx="6513811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04"/>
              </a:lnSpc>
            </a:pPr>
            <a:r>
              <a:rPr lang="en-US" sz="217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from:</a:t>
            </a:r>
          </a:p>
          <a:p>
            <a:pPr algn="just">
              <a:lnSpc>
                <a:spcPts val="2604"/>
              </a:lnSpc>
            </a:pPr>
          </a:p>
          <a:p>
            <a:pPr algn="just">
              <a:lnSpc>
                <a:spcPts val="2604"/>
              </a:lnSpc>
            </a:pPr>
            <a:r>
              <a:rPr lang="en-US" sz="217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CHANDRIKA KATAM</a:t>
            </a:r>
          </a:p>
          <a:p>
            <a:pPr algn="just">
              <a:lnSpc>
                <a:spcPts val="2604"/>
              </a:lnSpc>
              <a:spcBef>
                <a:spcPct val="0"/>
              </a:spcBef>
            </a:pPr>
            <a:r>
              <a:rPr lang="en-US" sz="217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Shri vishnu engeering college for women-Bhimavaam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DAHUOvCKUvg</dc:identifier>
  <dcterms:modified xsi:type="dcterms:W3CDTF">2011-08-01T06:04:30Z</dcterms:modified>
  <cp:revision>1</cp:revision>
  <dc:title>VOIS_Major_Project_PPT_Submission_Template (2).pptx</dc:title>
</cp:coreProperties>
</file>